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67" r:id="rId2"/>
    <p:sldId id="266" r:id="rId3"/>
    <p:sldId id="268" r:id="rId4"/>
    <p:sldId id="269" r:id="rId5"/>
    <p:sldId id="270" r:id="rId6"/>
  </p:sldIdLst>
  <p:sldSz cx="24384000" cy="13716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72E5BB4-257B-93CD-764F-7845F364569E}" v="90" dt="2026-03-16T04:46:09.76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39" d="100"/>
          <a:sy n="39" d="100"/>
        </p:scale>
        <p:origin x="69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F1534F-FB79-9126-EFEE-75BEA96CC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B92CB9C0-6D62-CCC7-7D10-A61552F660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187016"/>
              </p:ext>
            </p:extLst>
          </p:nvPr>
        </p:nvGraphicFramePr>
        <p:xfrm>
          <a:off x="533399" y="304800"/>
          <a:ext cx="23293602" cy="1981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82267">
                  <a:extLst>
                    <a:ext uri="{9D8B030D-6E8A-4147-A177-3AD203B41FA5}">
                      <a16:colId xmlns:a16="http://schemas.microsoft.com/office/drawing/2014/main" val="3008628612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676787877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4230366021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750898098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1811449162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3001645729"/>
                    </a:ext>
                  </a:extLst>
                </a:gridCol>
              </a:tblGrid>
              <a:tr h="9906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프로젝트 명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식습관 유형 분석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설명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메인 페이지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페이지 </a:t>
                      </a:r>
                      <a:r>
                        <a:rPr lang="en-US" altLang="ko-KR" sz="2800" dirty="0"/>
                        <a:t>#</a:t>
                      </a:r>
                      <a:endParaRPr lang="ko-KR" altLang="en-US" sz="28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/>
                        <a:t>01-1</a:t>
                      </a:r>
                      <a:endParaRPr lang="ko-KR" altLang="en-US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6629533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페이지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메인 페이지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3347330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C8A1CEDE-B8F1-5A41-41A3-20B98E70F1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625" y="2542572"/>
            <a:ext cx="17632609" cy="10353301"/>
          </a:xfrm>
          <a:prstGeom prst="rect">
            <a:avLst/>
          </a:prstGeom>
        </p:spPr>
      </p:pic>
      <p:sp>
        <p:nvSpPr>
          <p:cNvPr id="4" name="타원 3">
            <a:extLst>
              <a:ext uri="{FF2B5EF4-FFF2-40B4-BE49-F238E27FC236}">
                <a16:creationId xmlns:a16="http://schemas.microsoft.com/office/drawing/2014/main" id="{5E36300D-34ED-BDFF-7A36-B02598ABA4F5}"/>
              </a:ext>
            </a:extLst>
          </p:cNvPr>
          <p:cNvSpPr/>
          <p:nvPr/>
        </p:nvSpPr>
        <p:spPr>
          <a:xfrm>
            <a:off x="7010400" y="4572000"/>
            <a:ext cx="762000" cy="762000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1</a:t>
            </a:r>
            <a:endParaRPr lang="ko-KR" altLang="en-US" sz="4800" dirty="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024E02C0-0DBF-C918-7B3B-94F36E787AAF}"/>
              </a:ext>
            </a:extLst>
          </p:cNvPr>
          <p:cNvSpPr/>
          <p:nvPr/>
        </p:nvSpPr>
        <p:spPr>
          <a:xfrm>
            <a:off x="6248400" y="6096000"/>
            <a:ext cx="762000" cy="762000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2</a:t>
            </a:r>
            <a:endParaRPr lang="ko-KR" altLang="en-US" sz="4800" dirty="0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A555E0EC-D0D0-AD0B-A5ED-E60D58A5183B}"/>
              </a:ext>
            </a:extLst>
          </p:cNvPr>
          <p:cNvSpPr/>
          <p:nvPr/>
        </p:nvSpPr>
        <p:spPr>
          <a:xfrm>
            <a:off x="9322929" y="6081584"/>
            <a:ext cx="762000" cy="762000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3</a:t>
            </a:r>
            <a:endParaRPr lang="ko-KR" altLang="en-US" sz="4800" dirty="0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FAF6B144-7BD8-E7D7-EBC8-99D8E96D7E25}"/>
              </a:ext>
            </a:extLst>
          </p:cNvPr>
          <p:cNvSpPr/>
          <p:nvPr/>
        </p:nvSpPr>
        <p:spPr>
          <a:xfrm>
            <a:off x="6248400" y="9296400"/>
            <a:ext cx="762000" cy="762000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5</a:t>
            </a:r>
            <a:endParaRPr lang="ko-KR" altLang="en-US" sz="4800" dirty="0"/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4A38FB7-0DD6-E2F7-EACF-90C85561C9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5705420"/>
              </p:ext>
            </p:extLst>
          </p:nvPr>
        </p:nvGraphicFramePr>
        <p:xfrm>
          <a:off x="18490773" y="5547522"/>
          <a:ext cx="5386602" cy="65151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3001">
                  <a:extLst>
                    <a:ext uri="{9D8B030D-6E8A-4147-A177-3AD203B41FA5}">
                      <a16:colId xmlns:a16="http://schemas.microsoft.com/office/drawing/2014/main" val="3099305099"/>
                    </a:ext>
                  </a:extLst>
                </a:gridCol>
                <a:gridCol w="4243601">
                  <a:extLst>
                    <a:ext uri="{9D8B030D-6E8A-4147-A177-3AD203B41FA5}">
                      <a16:colId xmlns:a16="http://schemas.microsoft.com/office/drawing/2014/main" val="1372832432"/>
                    </a:ext>
                  </a:extLst>
                </a:gridCol>
              </a:tblGrid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No.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3200" dirty="0"/>
                        <a:t>설명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8051379"/>
                  </a:ext>
                </a:extLst>
              </a:tr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1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/>
                        <a:t>타이틀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35438258"/>
                  </a:ext>
                </a:extLst>
              </a:tr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2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/>
                        <a:t>로그인 탭 클릭 시 로그인 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0470733"/>
                  </a:ext>
                </a:extLst>
              </a:tr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3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/>
                        <a:t>회원가입 탭 클릭 시 회원가입 화면으로 전환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1030149"/>
                  </a:ext>
                </a:extLst>
              </a:tr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4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/>
                        <a:t>로그인 폼의 이메일</a:t>
                      </a:r>
                      <a:r>
                        <a:rPr lang="en-US" altLang="ko-KR" sz="2400" dirty="0"/>
                        <a:t>, </a:t>
                      </a:r>
                      <a:r>
                        <a:rPr lang="ko-KR" altLang="en-US" sz="2400" dirty="0"/>
                        <a:t>비밀번호 입력 필드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48616452"/>
                  </a:ext>
                </a:extLst>
              </a:tr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5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/>
                        <a:t>로그인 버튼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03699936"/>
                  </a:ext>
                </a:extLst>
              </a:tr>
            </a:tbl>
          </a:graphicData>
        </a:graphic>
      </p:graphicFrame>
      <p:sp>
        <p:nvSpPr>
          <p:cNvPr id="2" name="타원 1">
            <a:extLst>
              <a:ext uri="{FF2B5EF4-FFF2-40B4-BE49-F238E27FC236}">
                <a16:creationId xmlns:a16="http://schemas.microsoft.com/office/drawing/2014/main" id="{B60AAFF6-1126-EAC6-742D-56155C44296C}"/>
              </a:ext>
            </a:extLst>
          </p:cNvPr>
          <p:cNvSpPr/>
          <p:nvPr/>
        </p:nvSpPr>
        <p:spPr>
          <a:xfrm>
            <a:off x="6240162" y="7338222"/>
            <a:ext cx="762000" cy="762000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4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35877718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735AA2-1089-71EE-3949-7059410D3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9622CB15-3CCB-E07F-0D6C-4B6A492D02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237" y="2743200"/>
            <a:ext cx="17642660" cy="10363200"/>
          </a:xfrm>
          <a:prstGeom prst="rect">
            <a:avLst/>
          </a:prstGeom>
        </p:spPr>
      </p:pic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5F97B4B-661B-66D3-6E99-CFF097F34C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5181975"/>
              </p:ext>
            </p:extLst>
          </p:nvPr>
        </p:nvGraphicFramePr>
        <p:xfrm>
          <a:off x="533399" y="304800"/>
          <a:ext cx="23293602" cy="1981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82267">
                  <a:extLst>
                    <a:ext uri="{9D8B030D-6E8A-4147-A177-3AD203B41FA5}">
                      <a16:colId xmlns:a16="http://schemas.microsoft.com/office/drawing/2014/main" val="3008628612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676787877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4230366021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750898098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1811449162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3001645729"/>
                    </a:ext>
                  </a:extLst>
                </a:gridCol>
              </a:tblGrid>
              <a:tr h="9906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프로젝트 명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식습관 유형 분석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설명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기본 정보 입력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페이지 </a:t>
                      </a:r>
                      <a:r>
                        <a:rPr lang="en-US" altLang="ko-KR" sz="2800" dirty="0"/>
                        <a:t>#</a:t>
                      </a:r>
                      <a:endParaRPr lang="ko-KR" altLang="en-US" sz="28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/>
                        <a:t>02-1</a:t>
                      </a:r>
                      <a:endParaRPr lang="ko-KR" altLang="en-US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6629533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페이지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데이터 입력 페이지</a:t>
                      </a:r>
                      <a:r>
                        <a:rPr lang="en-US" altLang="ko-KR" sz="2800" dirty="0"/>
                        <a:t>_1</a:t>
                      </a:r>
                      <a:endParaRPr lang="ko-KR" altLang="en-US" sz="28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3347330"/>
                  </a:ext>
                </a:extLst>
              </a:tr>
            </a:tbl>
          </a:graphicData>
        </a:graphic>
      </p:graphicFrame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9CBBFD8E-882D-BDE7-27A8-BEED2EB44E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0299609"/>
              </p:ext>
            </p:extLst>
          </p:nvPr>
        </p:nvGraphicFramePr>
        <p:xfrm>
          <a:off x="18490773" y="5547522"/>
          <a:ext cx="5386602" cy="542925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3001">
                  <a:extLst>
                    <a:ext uri="{9D8B030D-6E8A-4147-A177-3AD203B41FA5}">
                      <a16:colId xmlns:a16="http://schemas.microsoft.com/office/drawing/2014/main" val="3099305099"/>
                    </a:ext>
                  </a:extLst>
                </a:gridCol>
                <a:gridCol w="4243601">
                  <a:extLst>
                    <a:ext uri="{9D8B030D-6E8A-4147-A177-3AD203B41FA5}">
                      <a16:colId xmlns:a16="http://schemas.microsoft.com/office/drawing/2014/main" val="1372832432"/>
                    </a:ext>
                  </a:extLst>
                </a:gridCol>
              </a:tblGrid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No.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3200" dirty="0"/>
                        <a:t>설명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5083959"/>
                  </a:ext>
                </a:extLst>
              </a:tr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1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/>
                        <a:t>홈으로 클릭 시 초기화면 이동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35438258"/>
                  </a:ext>
                </a:extLst>
              </a:tr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2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/>
                        <a:t>진행 단계 바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0470733"/>
                  </a:ext>
                </a:extLst>
              </a:tr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3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/>
                        <a:t>개인 정보 입력 필드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1030149"/>
                  </a:ext>
                </a:extLst>
              </a:tr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4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/>
                        <a:t>다음 클릭 시 영양소 정보 폼으로 이동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48616452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15E6854F-3DB3-D0D5-9BC6-B13B7F1CE12C}"/>
              </a:ext>
            </a:extLst>
          </p:cNvPr>
          <p:cNvSpPr/>
          <p:nvPr/>
        </p:nvSpPr>
        <p:spPr>
          <a:xfrm>
            <a:off x="4724400" y="2971800"/>
            <a:ext cx="762000" cy="762000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1</a:t>
            </a:r>
            <a:endParaRPr lang="ko-KR" altLang="en-US" sz="4800" dirty="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72C836E9-B782-FD01-95F9-C5FAB30D54B2}"/>
              </a:ext>
            </a:extLst>
          </p:cNvPr>
          <p:cNvSpPr/>
          <p:nvPr/>
        </p:nvSpPr>
        <p:spPr>
          <a:xfrm>
            <a:off x="4709984" y="4814649"/>
            <a:ext cx="762000" cy="762000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2</a:t>
            </a:r>
            <a:endParaRPr lang="ko-KR" altLang="en-US" sz="4800" dirty="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E95B702A-B83F-F195-BEFE-B2F9550E3EFC}"/>
              </a:ext>
            </a:extLst>
          </p:cNvPr>
          <p:cNvSpPr/>
          <p:nvPr/>
        </p:nvSpPr>
        <p:spPr>
          <a:xfrm>
            <a:off x="4701747" y="5829300"/>
            <a:ext cx="762000" cy="762000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3</a:t>
            </a:r>
            <a:endParaRPr lang="ko-KR" altLang="en-US" sz="4800" dirty="0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BC17E823-9007-CB0D-2E50-A49CC95B6EC6}"/>
              </a:ext>
            </a:extLst>
          </p:cNvPr>
          <p:cNvSpPr/>
          <p:nvPr/>
        </p:nvSpPr>
        <p:spPr>
          <a:xfrm>
            <a:off x="4701747" y="9890922"/>
            <a:ext cx="762000" cy="762000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4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18660048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EC1709-9F93-0771-BDF5-231896B92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4E9F1BD-7FBA-FAD5-A575-9D2278B519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3303996"/>
              </p:ext>
            </p:extLst>
          </p:nvPr>
        </p:nvGraphicFramePr>
        <p:xfrm>
          <a:off x="533399" y="304800"/>
          <a:ext cx="23293602" cy="1981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82267">
                  <a:extLst>
                    <a:ext uri="{9D8B030D-6E8A-4147-A177-3AD203B41FA5}">
                      <a16:colId xmlns:a16="http://schemas.microsoft.com/office/drawing/2014/main" val="3008628612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676787877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4230366021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750898098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1811449162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3001645729"/>
                    </a:ext>
                  </a:extLst>
                </a:gridCol>
              </a:tblGrid>
              <a:tr h="9906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프로젝트 명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식습관 유형 분석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설명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영양소 정보 입력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페이지 </a:t>
                      </a:r>
                      <a:r>
                        <a:rPr lang="en-US" altLang="ko-KR" sz="2800" dirty="0"/>
                        <a:t>#</a:t>
                      </a:r>
                      <a:endParaRPr lang="ko-KR" altLang="en-US" sz="28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/>
                        <a:t>02-1</a:t>
                      </a:r>
                      <a:endParaRPr lang="ko-KR" altLang="en-US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6629533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페이지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데이터 입력 페이지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3347330"/>
                  </a:ext>
                </a:extLst>
              </a:tr>
            </a:tbl>
          </a:graphicData>
        </a:graphic>
      </p:graphicFrame>
      <p:pic>
        <p:nvPicPr>
          <p:cNvPr id="7" name="그림 6">
            <a:extLst>
              <a:ext uri="{FF2B5EF4-FFF2-40B4-BE49-F238E27FC236}">
                <a16:creationId xmlns:a16="http://schemas.microsoft.com/office/drawing/2014/main" id="{6F6BDB89-EA06-6CA4-078F-F34DF7B301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99" y="2542572"/>
            <a:ext cx="17674146" cy="10411427"/>
          </a:xfrm>
          <a:prstGeom prst="rect">
            <a:avLst/>
          </a:prstGeom>
        </p:spPr>
      </p:pic>
      <p:sp>
        <p:nvSpPr>
          <p:cNvPr id="3" name="타원 2">
            <a:extLst>
              <a:ext uri="{FF2B5EF4-FFF2-40B4-BE49-F238E27FC236}">
                <a16:creationId xmlns:a16="http://schemas.microsoft.com/office/drawing/2014/main" id="{B5523B28-ADFB-6C5A-A146-93237215FA27}"/>
              </a:ext>
            </a:extLst>
          </p:cNvPr>
          <p:cNvSpPr/>
          <p:nvPr/>
        </p:nvSpPr>
        <p:spPr>
          <a:xfrm>
            <a:off x="4709984" y="2798523"/>
            <a:ext cx="762000" cy="762000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1</a:t>
            </a:r>
            <a:endParaRPr lang="ko-KR" altLang="en-US" sz="4800" dirty="0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97AF186E-C079-D715-FCC2-BD718A872765}"/>
              </a:ext>
            </a:extLst>
          </p:cNvPr>
          <p:cNvSpPr/>
          <p:nvPr/>
        </p:nvSpPr>
        <p:spPr>
          <a:xfrm>
            <a:off x="4718221" y="4558014"/>
            <a:ext cx="753763" cy="762000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2</a:t>
            </a:r>
            <a:endParaRPr lang="ko-KR" altLang="en-US" sz="4800" dirty="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7CE24BC3-4B65-8711-AB50-841AB30A1B66}"/>
              </a:ext>
            </a:extLst>
          </p:cNvPr>
          <p:cNvSpPr/>
          <p:nvPr/>
        </p:nvSpPr>
        <p:spPr>
          <a:xfrm>
            <a:off x="4718221" y="5582722"/>
            <a:ext cx="762000" cy="762000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3</a:t>
            </a:r>
            <a:endParaRPr lang="ko-KR" altLang="en-US" sz="4800" dirty="0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AD34C74F-D81F-ADBC-379B-0E2F1A4CBFB1}"/>
              </a:ext>
            </a:extLst>
          </p:cNvPr>
          <p:cNvSpPr/>
          <p:nvPr/>
        </p:nvSpPr>
        <p:spPr>
          <a:xfrm>
            <a:off x="4709984" y="11200201"/>
            <a:ext cx="762000" cy="762000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4</a:t>
            </a:r>
            <a:endParaRPr lang="ko-KR" altLang="en-US" sz="4800" dirty="0"/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EFCFA38B-8D5A-8E9E-0D8E-1DE906EB1C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2461030"/>
              </p:ext>
            </p:extLst>
          </p:nvPr>
        </p:nvGraphicFramePr>
        <p:xfrm>
          <a:off x="18490773" y="5547522"/>
          <a:ext cx="5386602" cy="542925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3001">
                  <a:extLst>
                    <a:ext uri="{9D8B030D-6E8A-4147-A177-3AD203B41FA5}">
                      <a16:colId xmlns:a16="http://schemas.microsoft.com/office/drawing/2014/main" val="3099305099"/>
                    </a:ext>
                  </a:extLst>
                </a:gridCol>
                <a:gridCol w="4243601">
                  <a:extLst>
                    <a:ext uri="{9D8B030D-6E8A-4147-A177-3AD203B41FA5}">
                      <a16:colId xmlns:a16="http://schemas.microsoft.com/office/drawing/2014/main" val="1372832432"/>
                    </a:ext>
                  </a:extLst>
                </a:gridCol>
              </a:tblGrid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No.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3200" dirty="0"/>
                        <a:t>설명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5083959"/>
                  </a:ext>
                </a:extLst>
              </a:tr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1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/>
                        <a:t>이전 클릭 시 초기화면 이동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35438258"/>
                  </a:ext>
                </a:extLst>
              </a:tr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2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/>
                        <a:t>진행 단계 바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0470733"/>
                  </a:ext>
                </a:extLst>
              </a:tr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3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/>
                        <a:t>각종 영양소 입력 필드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1030149"/>
                  </a:ext>
                </a:extLst>
              </a:tr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4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/>
                        <a:t>분석 결과 보기</a:t>
                      </a:r>
                      <a:r>
                        <a:rPr lang="en-US" altLang="ko-KR" sz="2400" dirty="0"/>
                        <a:t> </a:t>
                      </a:r>
                      <a:r>
                        <a:rPr lang="ko-KR" altLang="en-US" sz="2400" dirty="0"/>
                        <a:t>클릭 시 결과 페이지로 이동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486164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55879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D8FE81-B847-572F-89F3-44736C4D1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F0DFEB79-E37A-536C-08DE-44DDCE506B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5764760"/>
              </p:ext>
            </p:extLst>
          </p:nvPr>
        </p:nvGraphicFramePr>
        <p:xfrm>
          <a:off x="533399" y="304800"/>
          <a:ext cx="23293602" cy="1981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82267">
                  <a:extLst>
                    <a:ext uri="{9D8B030D-6E8A-4147-A177-3AD203B41FA5}">
                      <a16:colId xmlns:a16="http://schemas.microsoft.com/office/drawing/2014/main" val="3008628612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676787877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4230366021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750898098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1811449162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3001645729"/>
                    </a:ext>
                  </a:extLst>
                </a:gridCol>
              </a:tblGrid>
              <a:tr h="9906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프로젝트 명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식습관 유형 분석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설명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결과 페이지 </a:t>
                      </a:r>
                      <a:r>
                        <a:rPr lang="en-US" altLang="ko-KR" sz="2800" dirty="0"/>
                        <a:t>- 1</a:t>
                      </a:r>
                      <a:endParaRPr lang="ko-KR" altLang="en-US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페이지 </a:t>
                      </a:r>
                      <a:r>
                        <a:rPr lang="en-US" altLang="ko-KR" sz="2800" dirty="0"/>
                        <a:t>#</a:t>
                      </a:r>
                      <a:endParaRPr lang="ko-KR" altLang="en-US" sz="28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/>
                        <a:t>03-1</a:t>
                      </a:r>
                      <a:endParaRPr lang="ko-KR" altLang="en-US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6629533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페이지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결과 페이지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3347330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90CA5914-2537-515C-977A-CEFC537BAA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684" y="2609256"/>
            <a:ext cx="17704530" cy="10801943"/>
          </a:xfrm>
          <a:prstGeom prst="rect">
            <a:avLst/>
          </a:prstGeom>
        </p:spPr>
      </p:pic>
      <p:sp>
        <p:nvSpPr>
          <p:cNvPr id="2" name="타원 1">
            <a:extLst>
              <a:ext uri="{FF2B5EF4-FFF2-40B4-BE49-F238E27FC236}">
                <a16:creationId xmlns:a16="http://schemas.microsoft.com/office/drawing/2014/main" id="{9D9DE9E5-7529-8DD2-A483-69B96EC06D5E}"/>
              </a:ext>
            </a:extLst>
          </p:cNvPr>
          <p:cNvSpPr/>
          <p:nvPr/>
        </p:nvSpPr>
        <p:spPr>
          <a:xfrm>
            <a:off x="3048000" y="2895600"/>
            <a:ext cx="762000" cy="762000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1</a:t>
            </a:r>
            <a:endParaRPr lang="ko-KR" altLang="en-US" sz="4800" dirty="0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93870B15-3E28-E2F1-6A75-A69259560285}"/>
              </a:ext>
            </a:extLst>
          </p:cNvPr>
          <p:cNvSpPr/>
          <p:nvPr/>
        </p:nvSpPr>
        <p:spPr>
          <a:xfrm>
            <a:off x="3064474" y="4375171"/>
            <a:ext cx="753763" cy="762000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2</a:t>
            </a:r>
            <a:endParaRPr lang="ko-KR" altLang="en-US" sz="4800" dirty="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69C132FB-4DD0-5D3C-3A35-A99430E47F19}"/>
              </a:ext>
            </a:extLst>
          </p:cNvPr>
          <p:cNvSpPr/>
          <p:nvPr/>
        </p:nvSpPr>
        <p:spPr>
          <a:xfrm>
            <a:off x="3089188" y="6522086"/>
            <a:ext cx="762000" cy="762000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3</a:t>
            </a:r>
            <a:endParaRPr lang="ko-KR" altLang="en-US" sz="4800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0504476-C174-14B7-956B-7D88D6D20B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5316952"/>
              </p:ext>
            </p:extLst>
          </p:nvPr>
        </p:nvGraphicFramePr>
        <p:xfrm>
          <a:off x="18490773" y="5547522"/>
          <a:ext cx="5386602" cy="4343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3001">
                  <a:extLst>
                    <a:ext uri="{9D8B030D-6E8A-4147-A177-3AD203B41FA5}">
                      <a16:colId xmlns:a16="http://schemas.microsoft.com/office/drawing/2014/main" val="3099305099"/>
                    </a:ext>
                  </a:extLst>
                </a:gridCol>
                <a:gridCol w="4243601">
                  <a:extLst>
                    <a:ext uri="{9D8B030D-6E8A-4147-A177-3AD203B41FA5}">
                      <a16:colId xmlns:a16="http://schemas.microsoft.com/office/drawing/2014/main" val="1372832432"/>
                    </a:ext>
                  </a:extLst>
                </a:gridCol>
              </a:tblGrid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No.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3200" dirty="0"/>
                        <a:t>설명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5083959"/>
                  </a:ext>
                </a:extLst>
              </a:tr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1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/>
                        <a:t>다시 입력하기 클릭 시 초기화면 이동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35438258"/>
                  </a:ext>
                </a:extLst>
              </a:tr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2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/>
                        <a:t>유형에 맞는 식습관 유형 결과 카드 출력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0470733"/>
                  </a:ext>
                </a:extLst>
              </a:tr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3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/>
                        <a:t>각종 영양소 섭취 현황을 진행 바 형태와 수치로 출력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10301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31913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03A3EF-0113-9B18-20C9-7EB5C4C3B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4F9EE44D-5FD3-97A5-05AF-55F565E3E2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0171196"/>
              </p:ext>
            </p:extLst>
          </p:nvPr>
        </p:nvGraphicFramePr>
        <p:xfrm>
          <a:off x="533399" y="304800"/>
          <a:ext cx="23293602" cy="1981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82267">
                  <a:extLst>
                    <a:ext uri="{9D8B030D-6E8A-4147-A177-3AD203B41FA5}">
                      <a16:colId xmlns:a16="http://schemas.microsoft.com/office/drawing/2014/main" val="3008628612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676787877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4230366021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750898098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1811449162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3001645729"/>
                    </a:ext>
                  </a:extLst>
                </a:gridCol>
              </a:tblGrid>
              <a:tr h="9906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프로젝트 명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식습관 유형 분석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설명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결과 페이지 </a:t>
                      </a:r>
                      <a:r>
                        <a:rPr lang="en-US" altLang="ko-KR" sz="2800" dirty="0"/>
                        <a:t>- 2</a:t>
                      </a:r>
                      <a:endParaRPr lang="ko-KR" altLang="en-US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페이지 </a:t>
                      </a:r>
                      <a:r>
                        <a:rPr lang="en-US" altLang="ko-KR" sz="2800" dirty="0"/>
                        <a:t>#</a:t>
                      </a:r>
                      <a:endParaRPr lang="ko-KR" altLang="en-US" sz="28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/>
                        <a:t>03-1</a:t>
                      </a:r>
                      <a:endParaRPr lang="ko-KR" altLang="en-US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6629533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페이지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결과 페이지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3347330"/>
                  </a:ext>
                </a:extLst>
              </a:tr>
            </a:tbl>
          </a:graphicData>
        </a:graphic>
      </p:graphicFrame>
      <p:pic>
        <p:nvPicPr>
          <p:cNvPr id="4" name="그림 3">
            <a:extLst>
              <a:ext uri="{FF2B5EF4-FFF2-40B4-BE49-F238E27FC236}">
                <a16:creationId xmlns:a16="http://schemas.microsoft.com/office/drawing/2014/main" id="{7398B513-98C1-20D5-FBD6-46308E7E70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625" y="2628309"/>
            <a:ext cx="17552775" cy="10560207"/>
          </a:xfrm>
          <a:prstGeom prst="rect">
            <a:avLst/>
          </a:prstGeom>
        </p:spPr>
      </p:pic>
      <p:sp>
        <p:nvSpPr>
          <p:cNvPr id="2" name="타원 1">
            <a:extLst>
              <a:ext uri="{FF2B5EF4-FFF2-40B4-BE49-F238E27FC236}">
                <a16:creationId xmlns:a16="http://schemas.microsoft.com/office/drawing/2014/main" id="{072C14CB-2B5C-05B3-473E-554B764410FD}"/>
              </a:ext>
            </a:extLst>
          </p:cNvPr>
          <p:cNvSpPr/>
          <p:nvPr/>
        </p:nvSpPr>
        <p:spPr>
          <a:xfrm>
            <a:off x="3150970" y="5547522"/>
            <a:ext cx="762000" cy="762000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1</a:t>
            </a:r>
            <a:endParaRPr lang="ko-KR" altLang="en-US" sz="4800" dirty="0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8F9695A7-9333-8801-A829-43478933404E}"/>
              </a:ext>
            </a:extLst>
          </p:cNvPr>
          <p:cNvSpPr/>
          <p:nvPr/>
        </p:nvSpPr>
        <p:spPr>
          <a:xfrm>
            <a:off x="3150970" y="8763000"/>
            <a:ext cx="753763" cy="762000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2</a:t>
            </a:r>
            <a:endParaRPr lang="ko-KR" altLang="en-US" sz="4800" dirty="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42DB7C5B-F374-7D3E-0978-9195AA289DDA}"/>
              </a:ext>
            </a:extLst>
          </p:cNvPr>
          <p:cNvSpPr/>
          <p:nvPr/>
        </p:nvSpPr>
        <p:spPr>
          <a:xfrm>
            <a:off x="3142733" y="11430000"/>
            <a:ext cx="762000" cy="762000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3</a:t>
            </a:r>
            <a:endParaRPr lang="ko-KR" altLang="en-US" sz="4800" dirty="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BDC5A27C-CFB4-7283-04E0-C367BA85FE8F}"/>
              </a:ext>
            </a:extLst>
          </p:cNvPr>
          <p:cNvSpPr/>
          <p:nvPr/>
        </p:nvSpPr>
        <p:spPr>
          <a:xfrm>
            <a:off x="9067800" y="11430000"/>
            <a:ext cx="762000" cy="762000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4</a:t>
            </a:r>
            <a:endParaRPr lang="ko-KR" altLang="en-US" sz="4800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5E9A28C8-5281-D72D-EAF6-4B841AD232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0749248"/>
              </p:ext>
            </p:extLst>
          </p:nvPr>
        </p:nvGraphicFramePr>
        <p:xfrm>
          <a:off x="18490773" y="5547522"/>
          <a:ext cx="5386602" cy="542925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3001">
                  <a:extLst>
                    <a:ext uri="{9D8B030D-6E8A-4147-A177-3AD203B41FA5}">
                      <a16:colId xmlns:a16="http://schemas.microsoft.com/office/drawing/2014/main" val="3099305099"/>
                    </a:ext>
                  </a:extLst>
                </a:gridCol>
                <a:gridCol w="4243601">
                  <a:extLst>
                    <a:ext uri="{9D8B030D-6E8A-4147-A177-3AD203B41FA5}">
                      <a16:colId xmlns:a16="http://schemas.microsoft.com/office/drawing/2014/main" val="1372832432"/>
                    </a:ext>
                  </a:extLst>
                </a:gridCol>
              </a:tblGrid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No.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3200" dirty="0"/>
                        <a:t>설명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5083959"/>
                  </a:ext>
                </a:extLst>
              </a:tr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1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/>
                        <a:t>주요 문제점을 나타내는 카드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35438258"/>
                  </a:ext>
                </a:extLst>
              </a:tr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2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/>
                        <a:t>개선 방안을 나타내는 카드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0470733"/>
                  </a:ext>
                </a:extLst>
              </a:tr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3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/>
                        <a:t>홈으로 버튼  클릭 시 초기 화면 이동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1030149"/>
                  </a:ext>
                </a:extLst>
              </a:tr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4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/>
                        <a:t>결과 </a:t>
                      </a:r>
                      <a:r>
                        <a:rPr lang="ko-KR" altLang="en-US" sz="2400"/>
                        <a:t>저장하기 클릭 시 </a:t>
                      </a:r>
                      <a:r>
                        <a:rPr lang="ko-KR" altLang="en-US" sz="2400" dirty="0"/>
                        <a:t>캡처 본 저장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260121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761620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895</TotalTime>
  <Words>241</Words>
  <Application>Microsoft Office PowerPoint</Application>
  <PresentationFormat>사용자 지정</PresentationFormat>
  <Paragraphs>110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준수 박</cp:lastModifiedBy>
  <cp:revision>58</cp:revision>
  <dcterms:created xsi:type="dcterms:W3CDTF">2006-08-16T00:00:00Z</dcterms:created>
  <dcterms:modified xsi:type="dcterms:W3CDTF">2026-03-23T16:43:10Z</dcterms:modified>
</cp:coreProperties>
</file>